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10" d="100"/>
          <a:sy n="110" d="100"/>
        </p:scale>
        <p:origin x="-21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Alerts</c:v>
                </c:pt>
              </c:strCache>
            </c:strRef>
          </c:tx>
          <c:spPr>
            <a:solidFill>
              <a:srgbClr val="C77B00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C77B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4E6C-408B-93FA-D95D91F0E4C0}"/>
              </c:ext>
            </c:extLst>
          </c:dPt>
          <c:dPt>
            <c:idx val="1"/>
            <c:invertIfNegative val="0"/>
            <c:bubble3D val="0"/>
            <c:spPr>
              <a:solidFill>
                <a:srgbClr val="02809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E6C-408B-93FA-D95D91F0E4C0}"/>
              </c:ext>
            </c:extLst>
          </c:dPt>
          <c:dPt>
            <c:idx val="2"/>
            <c:invertIfNegative val="0"/>
            <c:bubble3D val="0"/>
            <c:spPr>
              <a:solidFill>
                <a:srgbClr val="5B7F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E6C-408B-93FA-D95D91F0E4C0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Medium</c:v>
                </c:pt>
                <c:pt idx="1">
                  <c:v>Low</c:v>
                </c:pt>
                <c:pt idx="2">
                  <c:v>Informational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</c:v>
                </c:pt>
                <c:pt idx="1">
                  <c:v>4</c:v>
                </c:pt>
                <c:pt idx="2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4E6C-408B-93FA-D95D91F0E4C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3A4A66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CADCF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solidFill>
          <a:srgbClr val="10213D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10213D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83500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0213D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2011680"/>
            <a:ext cx="5486400" cy="5486400"/>
          </a:xfrm>
          <a:prstGeom prst="line">
            <a:avLst/>
          </a:prstGeom>
          <a:solidFill>
            <a:srgbClr val="16294A"/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-1097280"/>
            <a:ext cx="3657600" cy="3657600"/>
          </a:xfrm>
          <a:prstGeom prst="line">
            <a:avLst/>
          </a:prstGeom>
          <a:solidFill>
            <a:srgbClr val="13304F"/>
          </a:solidFill>
          <a:ln/>
        </p:spPr>
      </p:sp>
      <p:pic>
        <p:nvPicPr>
          <p:cNvPr id="5" name="Image 0" descr="/home/claude/ppt/img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640080"/>
            <a:ext cx="822960" cy="8046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37360" y="7772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 INTERNS HUB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22960" y="237744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VAPT Project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822960" y="324612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Security &amp; Vulnerability Assessment / Penetration Testing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22960" y="37490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DVWA (Damn Vulnerable Web Application)  |  Tools: Burp Suite &amp; OWASP ZAP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22960" y="4846320"/>
            <a:ext cx="219456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502920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Avisha Masih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822960" y="54406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Intern  |  SIN: DG/AUGUST/CYBER/098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22960" y="57607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September 2026</a:t>
            </a:r>
            <a:endParaRPr lang="en-US" sz="1300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0938" y="717804"/>
            <a:ext cx="818444" cy="74523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Project Covers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606040" cy="30632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101600" dist="25400" dir="5400000" algn="bl" rotWithShape="0">
              <a:srgbClr val="9AA5B5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7452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22960" y="256032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VAPT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310896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how Vulnerability Assessment &amp; Penetration Testing identifies real web-app risk.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474720" y="1691640"/>
            <a:ext cx="2606040" cy="30632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101600" dist="25400" dir="5400000" algn="bl" rotWithShape="0">
              <a:srgbClr val="9AA5B5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0" y="187452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657600" y="256032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a Safe Lab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657600" y="310896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DVWA on Kali Linux as an isolated, legal target for testing.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309360" y="1691640"/>
            <a:ext cx="2606040" cy="30632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101600" dist="25400" dir="5400000" algn="bl" rotWithShape="0">
              <a:srgbClr val="9AA5B5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92240" y="187452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492240" y="256032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 Manually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92240" y="310896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Burp Suite to intercept and exploit SQL Injection and XSS by hand.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144000" y="1691640"/>
            <a:ext cx="2606040" cy="30632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101600" dist="25400" dir="5400000" algn="bl" rotWithShape="0">
              <a:srgbClr val="9AA5B5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326880" y="187452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9326880" y="256032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Automatically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326880" y="310896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OWASP ZAP to catch configuration-level issues at scale.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VAPT Project — DG Interns Hub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TOOLKIT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Used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874520"/>
            <a:ext cx="594360" cy="594360"/>
          </a:xfrm>
          <a:prstGeom prst="line">
            <a:avLst/>
          </a:prstGeom>
          <a:solidFill>
            <a:srgbClr val="16294A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8745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645920" y="17373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DVWA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45920" y="2121408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 vulnerable PHP/MySQL app used as the test target (Security Level: Low).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3035808"/>
            <a:ext cx="594360" cy="594360"/>
          </a:xfrm>
          <a:prstGeom prst="line">
            <a:avLst/>
          </a:prstGeom>
          <a:solidFill>
            <a:srgbClr val="16294A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03580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645920" y="289864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Burp Suite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645920" y="3282696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Intercepting proxy used to capture, inspect, and modify live HTTP requests.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4197096"/>
            <a:ext cx="594360" cy="594360"/>
          </a:xfrm>
          <a:prstGeom prst="line">
            <a:avLst/>
          </a:prstGeom>
          <a:solidFill>
            <a:srgbClr val="16294A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4197096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645920" y="4059936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ZAP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645920" y="4443984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DAST scanner — spiders the app and flags common vulnerabilities.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1520" y="5358384"/>
            <a:ext cx="594360" cy="594360"/>
          </a:xfrm>
          <a:prstGeom prst="line">
            <a:avLst/>
          </a:prstGeom>
          <a:solidFill>
            <a:srgbClr val="16294A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5358384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645920" y="5221224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Kali Linux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645920" y="5605272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Security-focused Linux VM hosting the entire isolated test environment.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C8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VAPT Project — DG Interns Hub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Testing Was Done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42900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88900" dist="25400" dir="5400000" algn="bl" rotWithShape="0">
              <a:srgbClr val="9AA5B5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5740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057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08760" y="1993392"/>
            <a:ext cx="233172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isolated Kali Linux VM + DVWA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89120" y="1828800"/>
            <a:ext cx="342900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88900" dist="25400" dir="5400000" algn="bl" rotWithShape="0">
              <a:srgbClr val="9AA5B5">
                <a:alpha val="2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17720" y="205740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4617720" y="2057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257800" y="1993392"/>
            <a:ext cx="233172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Security Level to Low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38160" y="1828800"/>
            <a:ext cx="342900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88900" dist="25400" dir="5400000" algn="bl" rotWithShape="0">
              <a:srgbClr val="9AA5B5">
                <a:alpha val="2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366760" y="205740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8366760" y="2057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006840" y="1993392"/>
            <a:ext cx="233172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 traffic with Burp Suite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566160"/>
            <a:ext cx="342900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88900" dist="25400" dir="5400000" algn="bl" rotWithShape="0">
              <a:srgbClr val="9AA5B5">
                <a:alpha val="2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68680" y="379476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3794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508760" y="3730752"/>
            <a:ext cx="233172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payloads &amp; observe results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389120" y="3566160"/>
            <a:ext cx="342900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88900" dist="25400" dir="5400000" algn="bl" rotWithShape="0">
              <a:srgbClr val="9AA5B5">
                <a:alpha val="2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17720" y="379476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02C39A"/>
          </a:solidFill>
          <a:ln/>
        </p:spPr>
      </p:sp>
      <p:sp>
        <p:nvSpPr>
          <p:cNvPr id="22" name="Text 20"/>
          <p:cNvSpPr/>
          <p:nvPr/>
        </p:nvSpPr>
        <p:spPr>
          <a:xfrm>
            <a:off x="4617720" y="3794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257800" y="3730752"/>
            <a:ext cx="233172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OWASP ZAP automated scan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138160" y="3566160"/>
            <a:ext cx="342900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88900" dist="25400" dir="5400000" algn="bl" rotWithShape="0">
              <a:srgbClr val="9AA5B5">
                <a:alpha val="2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366760" y="379476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02C39A"/>
          </a:solidFill>
          <a:ln/>
        </p:spPr>
      </p:sp>
      <p:sp>
        <p:nvSpPr>
          <p:cNvPr id="26" name="Text 24"/>
          <p:cNvSpPr/>
          <p:nvPr/>
        </p:nvSpPr>
        <p:spPr>
          <a:xfrm>
            <a:off x="8366760" y="3794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006840" y="3730752"/>
            <a:ext cx="233172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findings &amp; assign risk levels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VAPT Project — DG Interns Hub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01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Injection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595360" y="822960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8595360" y="822960"/>
            <a:ext cx="1051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Module: /vulnerabilities/sqli/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874520"/>
            <a:ext cx="5212080" cy="1234440"/>
          </a:xfrm>
          <a:prstGeom prst="roundRect">
            <a:avLst>
              <a:gd name="adj" fmla="val 4444"/>
            </a:avLst>
          </a:prstGeom>
          <a:solidFill>
            <a:srgbClr val="10213D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99339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2267712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1' OR '1'='1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68680" y="272491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Always-true condition bypasses the WHERE clause entirely.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2918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365760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user table disclosed with no valid login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0080" y="402336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UNION-based technique extracted password hashes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0080" y="438912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authentication required to trigger the flaw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172200" y="1417320"/>
            <a:ext cx="5486400" cy="4937760"/>
          </a:xfrm>
          <a:prstGeom prst="roundRect">
            <a:avLst>
              <a:gd name="adj" fmla="val 926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  <a:effectLst>
            <a:outerShdw blurRad="101600" dist="25400" dir="5400000" algn="bl" rotWithShape="0">
              <a:srgbClr val="9AA5B5">
                <a:alpha val="25000"/>
              </a:srgbClr>
            </a:outerShdw>
          </a:effectLst>
        </p:spPr>
      </p:sp>
      <p:pic>
        <p:nvPicPr>
          <p:cNvPr id="16" name="Image 0" descr="/home/claude/ppt/img/dvwa_result_alluser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0137" y="1691640"/>
            <a:ext cx="4889863" cy="3959352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6309360" y="58064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users disclosed in one response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VAPT Project — DG Interns Hub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02 &amp; 03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Cross-Site Scripting (XSS)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595360" y="822960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C77B00"/>
          </a:solidFill>
          <a:ln/>
        </p:spPr>
      </p:sp>
      <p:sp>
        <p:nvSpPr>
          <p:cNvPr id="5" name="Text 3"/>
          <p:cNvSpPr/>
          <p:nvPr/>
        </p:nvSpPr>
        <p:spPr>
          <a:xfrm>
            <a:off x="8595360" y="822960"/>
            <a:ext cx="1051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5212080" cy="4709160"/>
          </a:xfrm>
          <a:prstGeom prst="roundRect">
            <a:avLst>
              <a:gd name="adj" fmla="val 1165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88900" dist="25400" dir="5400000" algn="bl" rotWithShape="0">
              <a:srgbClr val="9AA5B5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1691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Reflected XSS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21031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&lt;script&gt;alert('XSS')&lt;/script&gt;</a:t>
            </a:r>
            <a:endParaRPr lang="en-US" sz="1300" dirty="0"/>
          </a:p>
        </p:txBody>
      </p:sp>
      <p:pic>
        <p:nvPicPr>
          <p:cNvPr id="9" name="Image 0" descr="/home/claude/ppt/img/xss_r_aler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59" y="2514600"/>
            <a:ext cx="4269377" cy="29718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14400" y="56235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executes via a crafted link — no data is stored.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355080" y="1508760"/>
            <a:ext cx="5212080" cy="4709160"/>
          </a:xfrm>
          <a:prstGeom prst="roundRect">
            <a:avLst>
              <a:gd name="adj" fmla="val 1165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88900" dist="25400" dir="5400000" algn="bl" rotWithShape="0">
              <a:srgbClr val="9AA5B5">
                <a:alpha val="2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629400" y="1691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XSS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629400" y="21031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&lt;script&gt;alert('Stored XSS')&lt;/script&gt;</a:t>
            </a:r>
            <a:endParaRPr lang="en-US" sz="1300" dirty="0"/>
          </a:p>
        </p:txBody>
      </p:sp>
      <p:pic>
        <p:nvPicPr>
          <p:cNvPr id="14" name="Image 1" descr="/home/claude/ppt/img/xss_s_stored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2514600"/>
            <a:ext cx="4434840" cy="29718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629400" y="56235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is saved to the database — fires for every visitor.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VAPT Project — DG Interns Hub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SCAN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OWASP ZAP — 9 Alerts Found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640080" y="1600200"/>
          <a:ext cx="566928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6583680" y="160020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CSP Header Not Set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10149840" y="1600200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7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6583680" y="207568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Anti-clickjacking Header Missing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0149840" y="2075688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7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583680" y="2551176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Version Leak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10149840" y="2551176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6583680" y="3026664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X-Content-Type-Options Missing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10149840" y="3026664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6583680" y="3502152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 without SameSite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10149840" y="3502152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6583680" y="40233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F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+ 4 more Low/Informational alerts — full detail in the project report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C8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VAPT Project — DG Interns Hub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Findings &amp; Risk Levels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10881360" cy="4480560"/>
        </p:xfrm>
        <a:graphic>
          <a:graphicData uri="http://schemas.openxmlformats.org/drawingml/2006/table">
            <a:tbl>
              <a:tblPr/>
              <a:tblGrid>
                <a:gridCol w="5120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Vulnerability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Method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Risk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1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SQL Injection</a:t>
                      </a:r>
                      <a:endParaRPr lang="en-US" sz="1250" dirty="0"/>
                    </a:p>
                  </a:txBody>
                  <a:tcPr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Manual (Burp Suite)</a:t>
                      </a:r>
                      <a:endParaRPr lang="en-US" sz="1250" dirty="0"/>
                    </a:p>
                  </a:txBody>
                  <a:tcPr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C0392B"/>
                          </a:solidFill>
                        </a:rPr>
                        <a:t>Critical</a:t>
                      </a:r>
                      <a:endParaRPr lang="en-US" sz="1250" dirty="0"/>
                    </a:p>
                  </a:txBody>
                  <a:tcPr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XSS — Reflected</a:t>
                      </a:r>
                      <a:endParaRPr lang="en-US" sz="1250" dirty="0"/>
                    </a:p>
                  </a:txBody>
                  <a:tcPr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Manual (Burp Suite)</a:t>
                      </a:r>
                      <a:endParaRPr lang="en-US" sz="1250" dirty="0"/>
                    </a:p>
                  </a:txBody>
                  <a:tcPr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C77B00"/>
                          </a:solidFill>
                        </a:rPr>
                        <a:t>High</a:t>
                      </a:r>
                      <a:endParaRPr lang="en-US" sz="1250" dirty="0"/>
                    </a:p>
                  </a:txBody>
                  <a:tcPr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XSS — Stored</a:t>
                      </a:r>
                      <a:endParaRPr lang="en-US" sz="1250" dirty="0"/>
                    </a:p>
                  </a:txBody>
                  <a:tcPr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Manual (Burp Suite)</a:t>
                      </a:r>
                      <a:endParaRPr lang="en-US" sz="1250" dirty="0"/>
                    </a:p>
                  </a:txBody>
                  <a:tcPr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C77B00"/>
                          </a:solidFill>
                        </a:rPr>
                        <a:t>High</a:t>
                      </a:r>
                      <a:endParaRPr lang="en-US" sz="1250" dirty="0"/>
                    </a:p>
                  </a:txBody>
                  <a:tcPr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CSP Header Not Set</a:t>
                      </a:r>
                      <a:endParaRPr lang="en-US" sz="1250" dirty="0"/>
                    </a:p>
                  </a:txBody>
                  <a:tcPr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Automated (OWASP ZAP)</a:t>
                      </a:r>
                      <a:endParaRPr lang="en-US" sz="1250" dirty="0"/>
                    </a:p>
                  </a:txBody>
                  <a:tcPr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C77B00"/>
                          </a:solidFill>
                        </a:rPr>
                        <a:t>Medium</a:t>
                      </a:r>
                      <a:endParaRPr lang="en-US" sz="1250" dirty="0"/>
                    </a:p>
                  </a:txBody>
                  <a:tcPr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Missing Anti-clickjacking Header</a:t>
                      </a:r>
                      <a:endParaRPr lang="en-US" sz="1250" dirty="0"/>
                    </a:p>
                  </a:txBody>
                  <a:tcPr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Automated (OWASP ZAP)</a:t>
                      </a:r>
                      <a:endParaRPr lang="en-US" sz="1250" dirty="0"/>
                    </a:p>
                  </a:txBody>
                  <a:tcPr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C77B00"/>
                          </a:solidFill>
                        </a:rPr>
                        <a:t>Medium</a:t>
                      </a:r>
                      <a:endParaRPr lang="en-US" sz="1250" dirty="0"/>
                    </a:p>
                  </a:txBody>
                  <a:tcPr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Server Version / Cookie / Header Leaks</a:t>
                      </a:r>
                      <a:endParaRPr lang="en-US" sz="1250" dirty="0"/>
                    </a:p>
                  </a:txBody>
                  <a:tcPr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Automated (OWASP ZAP)</a:t>
                      </a:r>
                      <a:endParaRPr lang="en-US" sz="1250" dirty="0"/>
                    </a:p>
                  </a:txBody>
                  <a:tcPr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28090"/>
                          </a:solidFill>
                        </a:rPr>
                        <a:t>Low</a:t>
                      </a:r>
                      <a:endParaRPr lang="en-US" sz="1250" dirty="0"/>
                    </a:p>
                  </a:txBody>
                  <a:tcPr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VAPT Project — DG Interns Hub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0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Mitigation Methods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520440" cy="4023360"/>
          </a:xfrm>
          <a:prstGeom prst="roundRect">
            <a:avLst>
              <a:gd name="adj" fmla="val 1818"/>
            </a:avLst>
          </a:prstGeom>
          <a:solidFill>
            <a:srgbClr val="16294A"/>
          </a:solidFill>
          <a:ln w="12700">
            <a:solidFill>
              <a:srgbClr val="22335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965960"/>
            <a:ext cx="457200" cy="73152"/>
          </a:xfrm>
          <a:prstGeom prst="roundRect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4884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 Flaws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68680" y="278892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✓"/>
            </a:pPr>
            <a:r>
              <a:rPr lang="en-US" sz="1200" dirty="0">
                <a:solidFill>
                  <a:srgbClr val="C7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parameterised queries / ORM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365760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✓"/>
            </a:pPr>
            <a:r>
              <a:rPr lang="en-US" sz="1200" dirty="0">
                <a:solidFill>
                  <a:srgbClr val="C7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&amp; sanitise all input server-side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452628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✓"/>
            </a:pPr>
            <a:r>
              <a:rPr lang="en-US" sz="1200" dirty="0">
                <a:solidFill>
                  <a:srgbClr val="C7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least-privilege DB accounts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34840" y="1737360"/>
            <a:ext cx="3520440" cy="4023360"/>
          </a:xfrm>
          <a:prstGeom prst="roundRect">
            <a:avLst>
              <a:gd name="adj" fmla="val 1818"/>
            </a:avLst>
          </a:prstGeom>
          <a:solidFill>
            <a:srgbClr val="16294A"/>
          </a:solidFill>
          <a:ln w="12700">
            <a:solidFill>
              <a:srgbClr val="22335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965960"/>
            <a:ext cx="457200" cy="73152"/>
          </a:xfrm>
          <a:prstGeom prst="roundRect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214884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663440" y="278892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✓"/>
            </a:pPr>
            <a:r>
              <a:rPr lang="en-US" sz="1200" dirty="0">
                <a:solidFill>
                  <a:srgbClr val="C7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 output encoding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663440" y="365760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✓"/>
            </a:pPr>
            <a:r>
              <a:rPr lang="en-US" sz="1200" dirty="0">
                <a:solidFill>
                  <a:srgbClr val="C7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Content-Security-Policy header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663440" y="452628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✓"/>
            </a:pPr>
            <a:r>
              <a:rPr lang="en-US" sz="1200" dirty="0">
                <a:solidFill>
                  <a:srgbClr val="C7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HttpOnly + Secure cookie flags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29600" y="1737360"/>
            <a:ext cx="3520440" cy="4023360"/>
          </a:xfrm>
          <a:prstGeom prst="roundRect">
            <a:avLst>
              <a:gd name="adj" fmla="val 1818"/>
            </a:avLst>
          </a:prstGeom>
          <a:solidFill>
            <a:srgbClr val="16294A"/>
          </a:solidFill>
          <a:ln w="12700">
            <a:solidFill>
              <a:srgbClr val="22335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58200" y="1965960"/>
            <a:ext cx="457200" cy="73152"/>
          </a:xfrm>
          <a:prstGeom prst="roundRect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8458200" y="214884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Misconfiguration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458200" y="278892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✓"/>
            </a:pPr>
            <a:r>
              <a:rPr lang="en-US" sz="1200" dirty="0">
                <a:solidFill>
                  <a:srgbClr val="C7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X-Frame-Options / CSP headers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458200" y="365760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✓"/>
            </a:pPr>
            <a:r>
              <a:rPr lang="en-US" sz="1200" dirty="0">
                <a:solidFill>
                  <a:srgbClr val="C7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X-Content-Type-Options: nosniff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458200" y="452628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✓"/>
            </a:pPr>
            <a:r>
              <a:rPr lang="en-US" sz="1200" dirty="0">
                <a:solidFill>
                  <a:srgbClr val="C7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software; hide version banners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C8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VAPT Project — DG Interns Hub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8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0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line">
            <a:avLst/>
          </a:prstGeom>
          <a:solidFill>
            <a:srgbClr val="16294A"/>
          </a:solidFill>
          <a:ln/>
        </p:spPr>
      </p:sp>
      <p:pic>
        <p:nvPicPr>
          <p:cNvPr id="3" name="Image 0" descr="/home/claude/ppt/img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640080"/>
            <a:ext cx="685800" cy="6766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7772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 INTERNS HUB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822960" y="228600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822960" y="3200400"/>
            <a:ext cx="8686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7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testing catches what automated scanning misses — and automated scanning catches what manual testing overlooks. A mature VAPT process needs both, backed by secure coding practices at the source.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822960" y="4754880"/>
            <a:ext cx="182880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493776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22960" y="5440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Avisha Masih  |  Cybersecurity Intern, DG Interns Hub</a:t>
            </a:r>
            <a:endParaRPr lang="en-US" sz="1300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245" y="572153"/>
            <a:ext cx="782955" cy="83776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596</Words>
  <Application>Microsoft Office PowerPoint</Application>
  <PresentationFormat>Widescreen</PresentationFormat>
  <Paragraphs>151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User</cp:lastModifiedBy>
  <cp:revision>2</cp:revision>
  <dcterms:created xsi:type="dcterms:W3CDTF">2026-09-30T10:57:45Z</dcterms:created>
  <dcterms:modified xsi:type="dcterms:W3CDTF">2026-09-30T11:13:49Z</dcterms:modified>
</cp:coreProperties>
</file>